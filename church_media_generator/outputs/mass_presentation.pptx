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PUT YOUR CELLPHONE ON SILENT MODE DURING THE MASS.</a:t>
            </a:r>
          </a:p>
          <a:p>
            <a:pPr>
              <a:spcAft>
                <a:spcPts val="500"/>
              </a:spcAft>
              <a:defRPr sz="1500" b="0" i="1">
                <a:solidFill>
                  <a:srgbClr val="F2F0E8"/>
                </a:solidFill>
                <a:latin typeface="Calibri"/>
              </a:defRPr>
            </a:pPr>
            <a:r>
              <a:t>Thank you.</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777240"/>
            <a:ext cx="16916400" cy="960120"/>
          </a:xfrm>
          <a:prstGeom prst="rect">
            <a:avLst/>
          </a:prstGeom>
          <a:noFill/>
        </p:spPr>
        <p:txBody>
          <a:bodyPr wrap="square" lIns="109728" rIns="109728" tIns="73152" bIns="73152">
            <a:noAutofit/>
          </a:bodyPr>
          <a:lstStyle/>
          <a:p>
            <a:pPr>
              <a:defRPr sz="3800" b="1" i="0">
                <a:solidFill>
                  <a:srgbClr val="F2F0E8"/>
                </a:solidFill>
                <a:latin typeface="Calibri"/>
              </a:defRPr>
            </a:pPr>
            <a:r>
              <a:t>Eastertide Celebration</a:t>
            </a:r>
          </a:p>
        </p:txBody>
      </p:sp>
      <p:sp>
        <p:nvSpPr>
          <p:cNvPr id="3" name="TextBox 2"/>
          <p:cNvSpPr txBox="1"/>
          <p:nvPr/>
        </p:nvSpPr>
        <p:spPr>
          <a:xfrm>
            <a:off x="685800" y="1828800"/>
            <a:ext cx="16916400" cy="3108960"/>
          </a:xfrm>
          <a:prstGeom prst="rect">
            <a:avLst/>
          </a:prstGeom>
          <a:noFill/>
        </p:spPr>
        <p:txBody>
          <a:bodyPr wrap="square" lIns="109728" rIns="109728" tIns="73152" bIns="73152">
            <a:noAutofit/>
          </a:bodyPr>
          <a:lstStyle/>
          <a:p>
            <a:pPr>
              <a:spcAft>
                <a:spcPts val="500"/>
              </a:spcAft>
              <a:defRPr sz="2100" b="0" i="0">
                <a:solidFill>
                  <a:srgbClr val="F5F5F5"/>
                </a:solidFill>
                <a:latin typeface="Calibri"/>
              </a:defRPr>
            </a:pPr>
            <a:r>
              <a:t>2026-04-26</a:t>
            </a:r>
          </a:p>
          <a:p>
            <a:pPr>
              <a:spcAft>
                <a:spcPts val="500"/>
              </a:spcAft>
              <a:defRPr sz="2100" b="0" i="0">
                <a:solidFill>
                  <a:srgbClr val="F5F5F5"/>
                </a:solidFill>
                <a:latin typeface="Calibri"/>
              </a:defRPr>
            </a:pPr>
            <a:r>
              <a:t>Celebrant: Hye</a:t>
            </a:r>
          </a:p>
          <a:p>
            <a:pPr>
              <a:spcAft>
                <a:spcPts val="500"/>
              </a:spcAft>
              <a:defRPr sz="2100" b="0" i="0">
                <a:solidFill>
                  <a:srgbClr val="F5F5F5"/>
                </a:solidFill>
                <a:latin typeface="Calibri"/>
              </a:defRPr>
            </a:pPr>
            <a:r>
              <a:t>Gospel: John 10:1-10</a:t>
            </a:r>
            <a:br/>
            <a:r>
              <a:t>Season: Eastertide · Sunday Lectionary Year A</a:t>
            </a:r>
          </a:p>
          <a:p>
            <a:pPr>
              <a:spcAft>
                <a:spcPts val="500"/>
              </a:spcAft>
              <a:defRPr sz="2100" b="0" i="0">
                <a:solidFill>
                  <a:srgbClr val="F5F5F5"/>
                </a:solidFill>
                <a:latin typeface="Calibri"/>
              </a:defRPr>
            </a:pPr>
            <a:r>
              <a:t>Excerpt:</a:t>
            </a:r>
            <a:br/>
            <a:r>
              <a:t>“Amen, amen, I say to you, whoever does not enter a sheepfold through the gate but climbs over elsewhere is a thief and a robber.”</a:t>
            </a:r>
          </a:p>
          <a:p>
            <a:pPr>
              <a:spcAft>
                <a:spcPts val="500"/>
              </a:spcAft>
              <a:defRPr sz="2100" b="0" i="0">
                <a:solidFill>
                  <a:srgbClr val="F5F5F5"/>
                </a:solidFill>
                <a:latin typeface="Calibri"/>
              </a:defRPr>
            </a:pPr>
            <a:r>
              <a:t>Liturgical color: White (easter)</a:t>
            </a:r>
          </a:p>
        </p:txBody>
      </p:sp>
      <p:sp>
        <p:nvSpPr>
          <p:cNvPr id="4" name="TextBox 3"/>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SING TO THE MOUNTAINS, SING TO THE SEA</a:t>
            </a:r>
          </a:p>
          <a:p>
            <a:pPr>
              <a:spcAft>
                <a:spcPts val="500"/>
              </a:spcAft>
              <a:defRPr sz="1900" b="0" i="0">
                <a:solidFill>
                  <a:srgbClr val="F5F5F5"/>
                </a:solidFill>
                <a:latin typeface="Calibri"/>
              </a:defRPr>
            </a:pPr>
            <a:r>
              <a:t>RAISE YOUR VOICES, LIFT YOUR HEARTS</a:t>
            </a:r>
          </a:p>
          <a:p>
            <a:pPr>
              <a:spcAft>
                <a:spcPts val="500"/>
              </a:spcAft>
              <a:defRPr sz="1900" b="0" i="0">
                <a:solidFill>
                  <a:srgbClr val="F5F5F5"/>
                </a:solidFill>
                <a:latin typeface="Calibri"/>
              </a:defRPr>
            </a:pPr>
            <a:r>
              <a:t>THIS IS THE DAY THE LORD HAS MADE</a:t>
            </a:r>
          </a:p>
          <a:p>
            <a:pPr>
              <a:spcAft>
                <a:spcPts val="500"/>
              </a:spcAft>
              <a:defRPr sz="1900" b="0" i="0">
                <a:solidFill>
                  <a:srgbClr val="F5F5F5"/>
                </a:solidFill>
                <a:latin typeface="Calibri"/>
              </a:defRPr>
            </a:pPr>
            <a:r>
              <a:t>LET ALL THE EARTH REJOICE</a:t>
            </a:r>
          </a:p>
          <a:p>
            <a:pPr>
              <a:spcAft>
                <a:spcPts val="500"/>
              </a:spcAft>
              <a:defRPr sz="1500" b="0" i="1">
                <a:solidFill>
                  <a:srgbClr val="F2F0E8"/>
                </a:solidFill>
                <a:latin typeface="Calibri"/>
              </a:defRPr>
            </a:pPr>
            <a:r>
              <a:t>Entrance hymn — replace with your chosen song and verses.</a:t>
            </a:r>
          </a:p>
          <a:p>
            <a:pPr>
              <a:spcAft>
                <a:spcPts val="500"/>
              </a:spcAft>
              <a:defRPr sz="1900" b="1" i="0">
                <a:solidFill>
                  <a:srgbClr val="F5F5F5"/>
                </a:solidFill>
                <a:latin typeface="Calibri"/>
              </a:defRPr>
            </a:pPr>
            <a:r>
              <a:t>I WILL GIVE THANKS TO YOU, MY LORD</a:t>
            </a:r>
          </a:p>
          <a:p>
            <a:pPr>
              <a:spcAft>
                <a:spcPts val="500"/>
              </a:spcAft>
              <a:defRPr sz="1900" b="0" i="0">
                <a:solidFill>
                  <a:srgbClr val="F5F5F5"/>
                </a:solidFill>
                <a:latin typeface="Calibri"/>
              </a:defRPr>
            </a:pPr>
            <a:r>
              <a:t>YOU HAVE ANSWERED MY PLEA</a:t>
            </a:r>
          </a:p>
          <a:p>
            <a:pPr>
              <a:spcAft>
                <a:spcPts val="500"/>
              </a:spcAft>
              <a:defRPr sz="1900" b="0" i="0">
                <a:solidFill>
                  <a:srgbClr val="F5F5F5"/>
                </a:solidFill>
                <a:latin typeface="Calibri"/>
              </a:defRPr>
            </a:pPr>
            <a:r>
              <a:t>YOU HAVE SAVED MY SOUL FROM DEATH</a:t>
            </a:r>
          </a:p>
          <a:p>
            <a:pPr>
              <a:spcAft>
                <a:spcPts val="500"/>
              </a:spcAft>
              <a:defRPr sz="1900" b="0" i="0">
                <a:solidFill>
                  <a:srgbClr val="F5F5F5"/>
                </a:solidFill>
                <a:latin typeface="Calibri"/>
              </a:defRPr>
            </a:pPr>
            <a:r>
              <a:t>YOU ARE MY STRENGTH AND MY SONG</a:t>
            </a:r>
          </a:p>
          <a:p>
            <a:pPr>
              <a:spcAft>
                <a:spcPts val="500"/>
              </a:spcAft>
              <a:defRPr sz="1500" b="0" i="1">
                <a:solidFill>
                  <a:srgbClr val="F2F0E8"/>
                </a:solidFill>
                <a:latin typeface="Calibri"/>
              </a:defRPr>
            </a:pPr>
            <a:r>
              <a:t>(Continue verses as needed.)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In the Name of the Father, and of the Son, and of the Holy Spirit.</a:t>
            </a:r>
          </a:p>
          <a:p>
            <a:pPr>
              <a:spcAft>
                <a:spcPts val="500"/>
              </a:spcAft>
              <a:defRPr sz="2000" b="1" i="0">
                <a:solidFill>
                  <a:srgbClr val="F5F5F5"/>
                </a:solidFill>
                <a:latin typeface="Calibri"/>
              </a:defRPr>
            </a:pPr>
            <a:r>
              <a:t>Amen.</a:t>
            </a:r>
          </a:p>
          <a:p>
            <a:pPr>
              <a:spcAft>
                <a:spcPts val="500"/>
              </a:spcAft>
              <a:defRPr sz="2000" b="1" i="0">
                <a:solidFill>
                  <a:srgbClr val="F2F0E8"/>
                </a:solidFill>
                <a:latin typeface="Calibri"/>
              </a:defRPr>
            </a:pPr>
            <a:r>
              <a:t>The Lord be with you.</a:t>
            </a:r>
          </a:p>
          <a:p>
            <a:pPr>
              <a:spcAft>
                <a:spcPts val="500"/>
              </a:spcAft>
              <a:defRPr sz="2000" b="1" i="0">
                <a:solidFill>
                  <a:srgbClr val="F5F5F5"/>
                </a:solidFill>
                <a:latin typeface="Calibri"/>
              </a:defRPr>
            </a:pPr>
            <a:r>
              <a:t>And with your spirit.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Introductory Rites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Brothers and sisters, let us acknowledge our sins, and so prepare ourselves to celebrate the sacred mysteries.</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Penitential 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5F5F5"/>
                </a:solidFill>
                <a:latin typeface="Calibri"/>
              </a:defRPr>
            </a:pPr>
            <a:r>
              <a:t>I confess to almighty God and to you, my brothers and sisters, that I have greatly sinned in my thoughts and in my words, in what I have done and in what I have failed to do; therefore I ask blessed Mary ever-Virgin, all the Angels and Saints, and you, my brothers and sisters, to pray for me to the Lord our God.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Penitential 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May almighty God have mercy on us, forgive us our sins, and bring us to everlasting life.</a:t>
            </a:r>
          </a:p>
          <a:p>
            <a:pPr>
              <a:spcAft>
                <a:spcPts val="500"/>
              </a:spcAft>
              <a:defRPr sz="2000" b="1" i="0">
                <a:solidFill>
                  <a:srgbClr val="F5F5F5"/>
                </a:solidFill>
                <a:latin typeface="Calibri"/>
              </a:defRPr>
            </a:pPr>
            <a:r>
              <a:t>Amen.</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Penitential 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5F5F5"/>
                </a:solidFill>
                <a:latin typeface="Calibri"/>
              </a:defRPr>
            </a:pPr>
            <a:r>
              <a:t>Lord, have mercy. Christ, have mercy. Lord, have mercy.</a:t>
            </a:r>
          </a:p>
          <a:p>
            <a:pPr>
              <a:spcAft>
                <a:spcPts val="500"/>
              </a:spcAft>
              <a:defRPr sz="1500" b="0" i="1">
                <a:solidFill>
                  <a:srgbClr val="F2F0E8"/>
                </a:solidFill>
                <a:latin typeface="Calibri"/>
              </a:defRPr>
            </a:pPr>
            <a:r>
              <a:t>Kyrie Eleison — sing or recite as customary.</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Kyrie Eleison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We praise you, we bless you, we adore you, we glorify you, we give you thanks for your great glory, Lord God, heavenly King, O God, almighty Father.</a:t>
            </a:r>
          </a:p>
          <a:p>
            <a:pPr>
              <a:spcAft>
                <a:spcPts val="500"/>
              </a:spcAft>
              <a:defRPr sz="1900" b="1" i="0">
                <a:solidFill>
                  <a:srgbClr val="F5F5F5"/>
                </a:solidFill>
                <a:latin typeface="Calibri"/>
              </a:defRPr>
            </a:pPr>
            <a:r>
              <a:t>Lord Jesus Christ, Only Begotten Son, Lord God, Lamb of God, Son of the Father, you take away the sins of the world, have mercy on us; you take away the sins of the world, receive our prayer; you are seated at the right hand of the Father, have mercy on us.</a:t>
            </a:r>
          </a:p>
          <a:p>
            <a:pPr>
              <a:spcAft>
                <a:spcPts val="500"/>
              </a:spcAft>
              <a:defRPr sz="1900" b="1" i="0">
                <a:solidFill>
                  <a:srgbClr val="F5F5F5"/>
                </a:solidFill>
                <a:latin typeface="Calibri"/>
              </a:defRPr>
            </a:pPr>
            <a:r>
              <a:t>For you alone are the Holy One, you alone are the Lord, you alone are the Most High, Jesus Christ, with the Holy Spirit, in the glory of God the Father. Amen.</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Gloria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Let us pray.</a:t>
            </a:r>
          </a:p>
          <a:p>
            <a:pPr>
              <a:spcAft>
                <a:spcPts val="500"/>
              </a:spcAft>
              <a:defRPr sz="2000" b="1" i="0">
                <a:solidFill>
                  <a:srgbClr val="F5F5F5"/>
                </a:solidFill>
                <a:latin typeface="Calibri"/>
              </a:defRPr>
            </a:pPr>
            <a:r>
              <a:t>Amen.</a:t>
            </a:r>
          </a:p>
          <a:p>
            <a:pPr>
              <a:spcAft>
                <a:spcPts val="500"/>
              </a:spcAft>
              <a:defRPr sz="1500" b="0" i="1">
                <a:solidFill>
                  <a:srgbClr val="F2F0E8"/>
                </a:solidFill>
                <a:latin typeface="Calibri"/>
              </a:defRPr>
            </a:pPr>
            <a:r>
              <a:t>— Replace with the Collect of the day from the Missal / lectionary.</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Word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1508760"/>
            <a:ext cx="16916400" cy="4114800"/>
          </a:xfrm>
          <a:prstGeom prst="rect">
            <a:avLst/>
          </a:prstGeom>
          <a:noFill/>
        </p:spPr>
        <p:txBody>
          <a:bodyPr wrap="square" lIns="109728" rIns="109728" tIns="73152" bIns="73152">
            <a:noAutofit/>
          </a:bodyPr>
          <a:lstStyle/>
          <a:p>
            <a:pPr algn="ctr">
              <a:defRPr sz="4400" b="1" i="0">
                <a:solidFill>
                  <a:srgbClr val="F2F0E8"/>
                </a:solidFill>
                <a:latin typeface="Calibri"/>
              </a:defRPr>
            </a:pPr>
            <a:r>
              <a:t>LITURGY OF</a:t>
            </a:r>
            <a:br/>
            <a:r>
              <a:t>THE WORD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1024128"/>
          </a:xfrm>
          <a:prstGeom prst="rect">
            <a:avLst/>
          </a:prstGeom>
          <a:noFill/>
        </p:spPr>
        <p:txBody>
          <a:bodyPr wrap="square" lIns="109728" rIns="109728" tIns="73152" bIns="73152">
            <a:noAutofit/>
          </a:bodyPr>
          <a:lstStyle/>
          <a:p>
            <a:pPr>
              <a:defRPr sz="2800" b="1" i="0">
                <a:solidFill>
                  <a:srgbClr val="F2F0E8"/>
                </a:solidFill>
                <a:latin typeface="Calibri"/>
              </a:defRPr>
            </a:pPr>
            <a:r>
              <a:t>Liturgy of the Word</a:t>
            </a:r>
          </a:p>
          <a:p>
            <a:pPr>
              <a:defRPr sz="1600" b="0" i="0">
                <a:solidFill>
                  <a:srgbClr val="9B9BA5"/>
                </a:solidFill>
                <a:latin typeface="Calibri"/>
              </a:defRPr>
            </a:pPr>
            <a:r>
              <a:t>First Reading (Acts 2:14a, 36-41)</a:t>
            </a:r>
          </a:p>
        </p:txBody>
      </p:sp>
      <p:sp>
        <p:nvSpPr>
          <p:cNvPr id="3" name="TextBox 2"/>
          <p:cNvSpPr txBox="1"/>
          <p:nvPr/>
        </p:nvSpPr>
        <p:spPr>
          <a:xfrm>
            <a:off x="685800" y="1536192"/>
            <a:ext cx="16916400" cy="438912"/>
          </a:xfrm>
          <a:prstGeom prst="rect">
            <a:avLst/>
          </a:prstGeom>
          <a:noFill/>
        </p:spPr>
        <p:txBody>
          <a:bodyPr wrap="square" lIns="109728" rIns="109728" tIns="73152" bIns="73152">
            <a:noAutofit/>
          </a:bodyPr>
          <a:lstStyle/>
          <a:p>
            <a:pPr>
              <a:defRPr sz="1400" b="0" i="0">
                <a:solidFill>
                  <a:srgbClr val="9B9BA5"/>
                </a:solidFill>
                <a:latin typeface="Calibri"/>
              </a:defRPr>
            </a:pPr>
          </a:p>
        </p:txBody>
      </p:sp>
      <p:sp>
        <p:nvSpPr>
          <p:cNvPr id="4" name="TextBox 3"/>
          <p:cNvSpPr txBox="1"/>
          <p:nvPr/>
        </p:nvSpPr>
        <p:spPr>
          <a:xfrm>
            <a:off x="685800" y="2084832"/>
            <a:ext cx="16916400" cy="7287768"/>
          </a:xfrm>
          <a:prstGeom prst="rect">
            <a:avLst/>
          </a:prstGeom>
          <a:noFill/>
        </p:spPr>
        <p:txBody>
          <a:bodyPr wrap="square" lIns="109728" rIns="109728" tIns="73152" bIns="73152">
            <a:noAutofit/>
          </a:bodyPr>
          <a:lstStyle/>
          <a:p>
            <a:pPr>
              <a:spcAft>
                <a:spcPts val="500"/>
              </a:spcAft>
              <a:defRPr sz="1900" b="0" i="0">
                <a:solidFill>
                  <a:srgbClr val="F5F5F5"/>
                </a:solidFill>
                <a:latin typeface="Calibri"/>
              </a:defRPr>
            </a:pPr>
            <a:r>
              <a:t>Then Peter stood up with the Eleven, raised his voice, and proclaimed: "Let the whole house of Israel know for certain that God has made both Lord and Christ, this Jesus whom you crucified." Now when they heard this, they were cut to the heart, and they asked Peter and the other apostles, "What are we to do, my brothers?" Peter said to them, "Repent and be baptized, every one of you, in the name of Jesus Christ for the forgiveness of your sins; and you will receive the gift of the Holy Spirit. For the promise is made to you and to your children and to all those far off, whomever the Lord our God will call." He testified with many other arguments, and was exhorting them, "Save yourselves from this corrupt generation." Those who accepted his message were baptized, and about three thousand persons were added that day.</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Word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1024128"/>
          </a:xfrm>
          <a:prstGeom prst="rect">
            <a:avLst/>
          </a:prstGeom>
          <a:noFill/>
        </p:spPr>
        <p:txBody>
          <a:bodyPr wrap="square" lIns="109728" rIns="109728" tIns="73152" bIns="73152">
            <a:noAutofit/>
          </a:bodyPr>
          <a:lstStyle/>
          <a:p>
            <a:pPr>
              <a:defRPr sz="2800" b="1" i="0">
                <a:solidFill>
                  <a:srgbClr val="F2F0E8"/>
                </a:solidFill>
                <a:latin typeface="Calibri"/>
              </a:defRPr>
            </a:pPr>
            <a:r>
              <a:t>Liturgy of the Word</a:t>
            </a:r>
          </a:p>
          <a:p>
            <a:pPr>
              <a:defRPr sz="1600" b="0" i="0">
                <a:solidFill>
                  <a:srgbClr val="9B9BA5"/>
                </a:solidFill>
                <a:latin typeface="Calibri"/>
              </a:defRPr>
            </a:pPr>
            <a:r>
              <a:t>Responsorial Psalm (Psalm 23: 1-3a, 3b4, 5, 6)</a:t>
            </a:r>
          </a:p>
        </p:txBody>
      </p:sp>
      <p:sp>
        <p:nvSpPr>
          <p:cNvPr id="3" name="TextBox 2"/>
          <p:cNvSpPr txBox="1"/>
          <p:nvPr/>
        </p:nvSpPr>
        <p:spPr>
          <a:xfrm>
            <a:off x="685800" y="1536192"/>
            <a:ext cx="16916400" cy="438912"/>
          </a:xfrm>
          <a:prstGeom prst="rect">
            <a:avLst/>
          </a:prstGeom>
          <a:noFill/>
        </p:spPr>
        <p:txBody>
          <a:bodyPr wrap="square" lIns="109728" rIns="109728" tIns="73152" bIns="73152">
            <a:noAutofit/>
          </a:bodyPr>
          <a:lstStyle/>
          <a:p>
            <a:pPr>
              <a:defRPr sz="1400" b="0" i="0">
                <a:solidFill>
                  <a:srgbClr val="9B9BA5"/>
                </a:solidFill>
                <a:latin typeface="Calibri"/>
              </a:defRPr>
            </a:pPr>
            <a:r>
              <a:t>Slide 1 of 2</a:t>
            </a:r>
          </a:p>
        </p:txBody>
      </p:sp>
      <p:sp>
        <p:nvSpPr>
          <p:cNvPr id="4" name="TextBox 3"/>
          <p:cNvSpPr txBox="1"/>
          <p:nvPr/>
        </p:nvSpPr>
        <p:spPr>
          <a:xfrm>
            <a:off x="685800" y="2084832"/>
            <a:ext cx="16916400" cy="7287768"/>
          </a:xfrm>
          <a:prstGeom prst="rect">
            <a:avLst/>
          </a:prstGeom>
          <a:noFill/>
        </p:spPr>
        <p:txBody>
          <a:bodyPr wrap="square" lIns="109728" rIns="109728" tIns="73152" bIns="73152">
            <a:noAutofit/>
          </a:bodyPr>
          <a:lstStyle/>
          <a:p>
            <a:pPr>
              <a:spcAft>
                <a:spcPts val="500"/>
              </a:spcAft>
              <a:defRPr sz="1900" b="0" i="0">
                <a:solidFill>
                  <a:srgbClr val="F5F5F5"/>
                </a:solidFill>
                <a:latin typeface="Calibri"/>
              </a:defRPr>
            </a:pPr>
            <a:r>
              <a:t>R. (1) The Lord is my shepherd; there is nothing I shall want. or: R. Alleluia. The LORD is my shepherd; I shall not want. In verdant pastures he gives me repose; beside restful waters he leads me; he refreshes my soul. R. The Lord is my shepherd; there is nothing I shall want. or: R. Alleluia. He guides me in right paths for his name's sake. Even though I walk in the dark valley I fear no evil; for you are at my side. With your rod and your staff that give me courage. R. The Lord is my shepherd; there is nothing I shall want. or: R. Alleluia. You spread the table before me in the sight of my foes; you anoint my head with oil; my cup overflows. R. The Lord is my shepherd; there is nothing I shall want. or: R. Alleluia. Only goodness and kindness follow me all the days of my life; and I shall dwell in the house of the LORD for years to come. R.</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1024128"/>
          </a:xfrm>
          <a:prstGeom prst="rect">
            <a:avLst/>
          </a:prstGeom>
          <a:noFill/>
        </p:spPr>
        <p:txBody>
          <a:bodyPr wrap="square" lIns="109728" rIns="109728" tIns="73152" bIns="73152">
            <a:noAutofit/>
          </a:bodyPr>
          <a:lstStyle/>
          <a:p>
            <a:pPr>
              <a:defRPr sz="2800" b="1" i="0">
                <a:solidFill>
                  <a:srgbClr val="F2F0E8"/>
                </a:solidFill>
                <a:latin typeface="Calibri"/>
              </a:defRPr>
            </a:pPr>
            <a:r>
              <a:t>Liturgy of the Word</a:t>
            </a:r>
          </a:p>
          <a:p>
            <a:pPr>
              <a:defRPr sz="1600" b="0" i="0">
                <a:solidFill>
                  <a:srgbClr val="9B9BA5"/>
                </a:solidFill>
                <a:latin typeface="Calibri"/>
              </a:defRPr>
            </a:pPr>
            <a:r>
              <a:t>Responsorial Psalm (continued)</a:t>
            </a:r>
          </a:p>
        </p:txBody>
      </p:sp>
      <p:sp>
        <p:nvSpPr>
          <p:cNvPr id="3" name="TextBox 2"/>
          <p:cNvSpPr txBox="1"/>
          <p:nvPr/>
        </p:nvSpPr>
        <p:spPr>
          <a:xfrm>
            <a:off x="685800" y="1536192"/>
            <a:ext cx="16916400" cy="438912"/>
          </a:xfrm>
          <a:prstGeom prst="rect">
            <a:avLst/>
          </a:prstGeom>
          <a:noFill/>
        </p:spPr>
        <p:txBody>
          <a:bodyPr wrap="square" lIns="109728" rIns="109728" tIns="73152" bIns="73152">
            <a:noAutofit/>
          </a:bodyPr>
          <a:lstStyle/>
          <a:p>
            <a:pPr>
              <a:defRPr sz="1400" b="0" i="0">
                <a:solidFill>
                  <a:srgbClr val="9B9BA5"/>
                </a:solidFill>
                <a:latin typeface="Calibri"/>
              </a:defRPr>
            </a:pPr>
            <a:r>
              <a:t>Slide 2 of 2</a:t>
            </a:r>
          </a:p>
        </p:txBody>
      </p:sp>
      <p:sp>
        <p:nvSpPr>
          <p:cNvPr id="4" name="TextBox 3"/>
          <p:cNvSpPr txBox="1"/>
          <p:nvPr/>
        </p:nvSpPr>
        <p:spPr>
          <a:xfrm>
            <a:off x="685800" y="2084832"/>
            <a:ext cx="16916400" cy="7287768"/>
          </a:xfrm>
          <a:prstGeom prst="rect">
            <a:avLst/>
          </a:prstGeom>
          <a:noFill/>
        </p:spPr>
        <p:txBody>
          <a:bodyPr wrap="square" lIns="109728" rIns="109728" tIns="73152" bIns="73152">
            <a:noAutofit/>
          </a:bodyPr>
          <a:lstStyle/>
          <a:p>
            <a:pPr>
              <a:spcAft>
                <a:spcPts val="500"/>
              </a:spcAft>
              <a:defRPr sz="1900" b="0" i="0">
                <a:solidFill>
                  <a:srgbClr val="F5F5F5"/>
                </a:solidFill>
                <a:latin typeface="Calibri"/>
              </a:defRPr>
            </a:pPr>
            <a:r>
              <a:t>The Lord is my shepherd; there is nothing I shall want. or: R. Alleluia.</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1024128"/>
          </a:xfrm>
          <a:prstGeom prst="rect">
            <a:avLst/>
          </a:prstGeom>
          <a:noFill/>
        </p:spPr>
        <p:txBody>
          <a:bodyPr wrap="square" lIns="109728" rIns="109728" tIns="73152" bIns="73152">
            <a:noAutofit/>
          </a:bodyPr>
          <a:lstStyle/>
          <a:p>
            <a:pPr>
              <a:defRPr sz="2800" b="1" i="0">
                <a:solidFill>
                  <a:srgbClr val="F2F0E8"/>
                </a:solidFill>
                <a:latin typeface="Calibri"/>
              </a:defRPr>
            </a:pPr>
            <a:r>
              <a:t>Liturgy of the Word</a:t>
            </a:r>
          </a:p>
          <a:p>
            <a:pPr>
              <a:defRPr sz="1600" b="0" i="0">
                <a:solidFill>
                  <a:srgbClr val="9B9BA5"/>
                </a:solidFill>
                <a:latin typeface="Calibri"/>
              </a:defRPr>
            </a:pPr>
            <a:r>
              <a:t>Second Reading (1 Peter 2:20b-25)</a:t>
            </a:r>
          </a:p>
        </p:txBody>
      </p:sp>
      <p:sp>
        <p:nvSpPr>
          <p:cNvPr id="3" name="TextBox 2"/>
          <p:cNvSpPr txBox="1"/>
          <p:nvPr/>
        </p:nvSpPr>
        <p:spPr>
          <a:xfrm>
            <a:off x="685800" y="1536192"/>
            <a:ext cx="16916400" cy="438912"/>
          </a:xfrm>
          <a:prstGeom prst="rect">
            <a:avLst/>
          </a:prstGeom>
          <a:noFill/>
        </p:spPr>
        <p:txBody>
          <a:bodyPr wrap="square" lIns="109728" rIns="109728" tIns="73152" bIns="73152">
            <a:noAutofit/>
          </a:bodyPr>
          <a:lstStyle/>
          <a:p>
            <a:pPr>
              <a:defRPr sz="1400" b="0" i="0">
                <a:solidFill>
                  <a:srgbClr val="9B9BA5"/>
                </a:solidFill>
                <a:latin typeface="Calibri"/>
              </a:defRPr>
            </a:pPr>
          </a:p>
        </p:txBody>
      </p:sp>
      <p:sp>
        <p:nvSpPr>
          <p:cNvPr id="4" name="TextBox 3"/>
          <p:cNvSpPr txBox="1"/>
          <p:nvPr/>
        </p:nvSpPr>
        <p:spPr>
          <a:xfrm>
            <a:off x="685800" y="2084832"/>
            <a:ext cx="16916400" cy="7287768"/>
          </a:xfrm>
          <a:prstGeom prst="rect">
            <a:avLst/>
          </a:prstGeom>
          <a:noFill/>
        </p:spPr>
        <p:txBody>
          <a:bodyPr wrap="square" lIns="109728" rIns="109728" tIns="73152" bIns="73152">
            <a:noAutofit/>
          </a:bodyPr>
          <a:lstStyle/>
          <a:p>
            <a:pPr>
              <a:spcAft>
                <a:spcPts val="500"/>
              </a:spcAft>
              <a:defRPr sz="1900" b="0" i="0">
                <a:solidFill>
                  <a:srgbClr val="F5F5F5"/>
                </a:solidFill>
                <a:latin typeface="Calibri"/>
              </a:defRPr>
            </a:pPr>
            <a:r>
              <a:t>Beloved: If you are patient when you suffer for doing what is good, this is a grace before God. For to this you have been called, because Christ also suffered for you, leaving you an example that you should follow in his footsteps. He committed no sin, and no deceit was found in his mouth. When he was insulted, he returned no insult; when he suffered, he did not threaten; instead, he handed himself over to the one who judges justly. He himself bore our sins in his body upon the cross, so that, free from sin, we might live for righteousness. By his wounds you have been healed. For you had gone astray like sheep, but you have now returned to the shepherd and guardian of your souls.</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ALLELUIA! ALLELUIA! ALLELUIA! ALLELUIA!</a:t>
            </a:r>
          </a:p>
          <a:p>
            <a:pPr>
              <a:spcAft>
                <a:spcPts val="500"/>
              </a:spcAft>
              <a:defRPr sz="1500" b="0" i="1">
                <a:solidFill>
                  <a:srgbClr val="F2F0E8"/>
                </a:solidFill>
                <a:latin typeface="Calibri"/>
              </a:defRPr>
            </a:pPr>
            <a:r>
              <a:t>Gospel Acclamation — use the verse of the day from the Lectionary.</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Gospel Acclamation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500" b="0" i="1">
                <a:solidFill>
                  <a:srgbClr val="F2F0E8"/>
                </a:solidFill>
                <a:latin typeface="Calibri"/>
              </a:defRPr>
            </a:pPr>
            <a:r>
              <a:t>Commentator reads the verse before the Gospel Acclamation, then the assembly sings the Alleluia.</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Gospel Acclamation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The Lord be with you.</a:t>
            </a:r>
          </a:p>
          <a:p>
            <a:pPr>
              <a:spcAft>
                <a:spcPts val="500"/>
              </a:spcAft>
              <a:defRPr sz="2000" b="1" i="0">
                <a:solidFill>
                  <a:srgbClr val="F5F5F5"/>
                </a:solidFill>
                <a:latin typeface="Calibri"/>
              </a:defRPr>
            </a:pPr>
            <a:r>
              <a:t>And with your spirit.</a:t>
            </a:r>
          </a:p>
          <a:p>
            <a:pPr>
              <a:spcAft>
                <a:spcPts val="500"/>
              </a:spcAft>
              <a:defRPr sz="2000" b="1" i="0">
                <a:solidFill>
                  <a:srgbClr val="F2F0E8"/>
                </a:solidFill>
                <a:latin typeface="Calibri"/>
              </a:defRPr>
            </a:pPr>
            <a:r>
              <a:t>A reading from the holy Gospel according to …</a:t>
            </a:r>
          </a:p>
          <a:p>
            <a:pPr>
              <a:spcAft>
                <a:spcPts val="500"/>
              </a:spcAft>
              <a:defRPr sz="2000" b="1" i="0">
                <a:solidFill>
                  <a:srgbClr val="F5F5F5"/>
                </a:solidFill>
                <a:latin typeface="Calibri"/>
              </a:defRPr>
            </a:pPr>
            <a:r>
              <a:t>Glory to you, O Lord!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Gospel Acclamation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41248"/>
          </a:xfrm>
          <a:prstGeom prst="rect">
            <a:avLst/>
          </a:prstGeom>
          <a:noFill/>
        </p:spPr>
        <p:txBody>
          <a:bodyPr wrap="square" lIns="109728" rIns="109728" tIns="73152" bIns="73152">
            <a:noAutofit/>
          </a:bodyPr>
          <a:lstStyle/>
          <a:p>
            <a:pPr>
              <a:defRPr sz="3000" b="1" i="0">
                <a:solidFill>
                  <a:srgbClr val="F2F0E8"/>
                </a:solidFill>
                <a:latin typeface="Calibri"/>
              </a:defRPr>
            </a:pPr>
            <a:r>
              <a:t>Gospel</a:t>
            </a:r>
          </a:p>
        </p:txBody>
      </p:sp>
      <p:sp>
        <p:nvSpPr>
          <p:cNvPr id="3" name="TextBox 2"/>
          <p:cNvSpPr txBox="1"/>
          <p:nvPr/>
        </p:nvSpPr>
        <p:spPr>
          <a:xfrm>
            <a:off x="685800" y="1353312"/>
            <a:ext cx="16916400" cy="438912"/>
          </a:xfrm>
          <a:prstGeom prst="rect">
            <a:avLst/>
          </a:prstGeom>
          <a:noFill/>
        </p:spPr>
        <p:txBody>
          <a:bodyPr wrap="square" lIns="109728" rIns="109728" tIns="73152" bIns="73152">
            <a:noAutofit/>
          </a:bodyPr>
          <a:lstStyle/>
          <a:p>
            <a:pPr>
              <a:defRPr sz="1400" b="0" i="0">
                <a:solidFill>
                  <a:srgbClr val="9B9BA5"/>
                </a:solidFill>
                <a:latin typeface="Calibri"/>
              </a:defRPr>
            </a:pPr>
            <a:r>
              <a:t>John 10:1-10  ·  slide 1 of 2</a:t>
            </a:r>
          </a:p>
        </p:txBody>
      </p:sp>
      <p:sp>
        <p:nvSpPr>
          <p:cNvPr id="4" name="TextBox 3"/>
          <p:cNvSpPr txBox="1"/>
          <p:nvPr/>
        </p:nvSpPr>
        <p:spPr>
          <a:xfrm>
            <a:off x="685800" y="1901952"/>
            <a:ext cx="16916400" cy="7470648"/>
          </a:xfrm>
          <a:prstGeom prst="rect">
            <a:avLst/>
          </a:prstGeom>
          <a:noFill/>
        </p:spPr>
        <p:txBody>
          <a:bodyPr wrap="square" lIns="109728" rIns="109728" tIns="73152" bIns="73152">
            <a:noAutofit/>
          </a:bodyPr>
          <a:lstStyle/>
          <a:p>
            <a:pPr>
              <a:spcAft>
                <a:spcPts val="500"/>
              </a:spcAft>
              <a:defRPr sz="1900" b="0" i="0">
                <a:solidFill>
                  <a:srgbClr val="F5F5F5"/>
                </a:solidFill>
                <a:latin typeface="Calibri"/>
              </a:defRPr>
            </a:pPr>
            <a:r>
              <a:t>Jesus said: "Amen, amen, I say to you, whoever does not enter a sheepfold through the gate but climbs over elsewhere is a thief and a robber. But whoever enters through the gate is the shepherd of the sheep. The gatekeeper opens it for him, and the sheep hear his voice, as the shepherd calls his own sheep by name and leads them out. When he has driven out all his own, he walks ahead of them, and the sheep follow him, because they recognize his voice. But they will not follow a stranger; they will run away from him, because they do not recognize the voice of strangers." Although Jesus used this figure of speech, the Pharisees did not realize what he was trying to tell them. So Jesus said again, "Amen, amen, I say to you, I am the gate for the sheep. All who came before me are thieves and robbers, but the sheep did not listen to them. I am the gate.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Gospel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41248"/>
          </a:xfrm>
          <a:prstGeom prst="rect">
            <a:avLst/>
          </a:prstGeom>
          <a:noFill/>
        </p:spPr>
        <p:txBody>
          <a:bodyPr wrap="square" lIns="109728" rIns="109728" tIns="73152" bIns="73152">
            <a:noAutofit/>
          </a:bodyPr>
          <a:lstStyle/>
          <a:p>
            <a:pPr>
              <a:defRPr sz="3000" b="1" i="0">
                <a:solidFill>
                  <a:srgbClr val="F2F0E8"/>
                </a:solidFill>
                <a:latin typeface="Calibri"/>
              </a:defRPr>
            </a:pPr>
            <a:r>
              <a:t>Gospel (continued)</a:t>
            </a:r>
          </a:p>
        </p:txBody>
      </p:sp>
      <p:sp>
        <p:nvSpPr>
          <p:cNvPr id="3" name="TextBox 2"/>
          <p:cNvSpPr txBox="1"/>
          <p:nvPr/>
        </p:nvSpPr>
        <p:spPr>
          <a:xfrm>
            <a:off x="685800" y="1353312"/>
            <a:ext cx="16916400" cy="438912"/>
          </a:xfrm>
          <a:prstGeom prst="rect">
            <a:avLst/>
          </a:prstGeom>
          <a:noFill/>
        </p:spPr>
        <p:txBody>
          <a:bodyPr wrap="square" lIns="109728" rIns="109728" tIns="73152" bIns="73152">
            <a:noAutofit/>
          </a:bodyPr>
          <a:lstStyle/>
          <a:p>
            <a:pPr>
              <a:defRPr sz="1400" b="0" i="0">
                <a:solidFill>
                  <a:srgbClr val="9B9BA5"/>
                </a:solidFill>
                <a:latin typeface="Calibri"/>
              </a:defRPr>
            </a:pPr>
            <a:r>
              <a:t>John 10:1-10  ·  slide 2 of 2</a:t>
            </a:r>
          </a:p>
        </p:txBody>
      </p:sp>
      <p:sp>
        <p:nvSpPr>
          <p:cNvPr id="4" name="TextBox 3"/>
          <p:cNvSpPr txBox="1"/>
          <p:nvPr/>
        </p:nvSpPr>
        <p:spPr>
          <a:xfrm>
            <a:off x="685800" y="1901952"/>
            <a:ext cx="16916400" cy="7470648"/>
          </a:xfrm>
          <a:prstGeom prst="rect">
            <a:avLst/>
          </a:prstGeom>
          <a:noFill/>
        </p:spPr>
        <p:txBody>
          <a:bodyPr wrap="square" lIns="109728" rIns="109728" tIns="73152" bIns="73152">
            <a:noAutofit/>
          </a:bodyPr>
          <a:lstStyle/>
          <a:p>
            <a:pPr>
              <a:spcAft>
                <a:spcPts val="500"/>
              </a:spcAft>
              <a:defRPr sz="1900" b="0" i="0">
                <a:solidFill>
                  <a:srgbClr val="F5F5F5"/>
                </a:solidFill>
                <a:latin typeface="Calibri"/>
              </a:defRPr>
            </a:pPr>
            <a:r>
              <a:t>Whoever enters through me will be saved, and will come in and go out and find pasture. A thief comes only to steal and slaughter and destroy; I came so that they might have life and have it more abundantly."</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Gospel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The Gospel of the Lord.</a:t>
            </a:r>
          </a:p>
          <a:p>
            <a:pPr>
              <a:spcAft>
                <a:spcPts val="500"/>
              </a:spcAft>
              <a:defRPr sz="2000" b="1" i="0">
                <a:solidFill>
                  <a:srgbClr val="F5F5F5"/>
                </a:solidFill>
                <a:latin typeface="Calibri"/>
              </a:defRPr>
            </a:pPr>
            <a:r>
              <a:t>Praise to you, Lord Jesus Christ!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500" b="0" i="1">
                <a:solidFill>
                  <a:srgbClr val="F2F0E8"/>
                </a:solidFill>
                <a:latin typeface="Calibri"/>
              </a:defRPr>
            </a:pPr>
            <a:r>
              <a:t>Time for the homily — Father will now preach.</a:t>
            </a:r>
          </a:p>
          <a:p>
            <a:pPr>
              <a:spcAft>
                <a:spcPts val="500"/>
              </a:spcAft>
              <a:defRPr sz="1500" b="0" i="1">
                <a:solidFill>
                  <a:srgbClr val="F2F0E8"/>
                </a:solidFill>
                <a:latin typeface="Calibri"/>
              </a:defRPr>
            </a:pPr>
            <a:r>
              <a:t>Commentator may introduce the theme.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Homily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5F5F5"/>
                </a:solidFill>
                <a:latin typeface="Calibri"/>
              </a:defRPr>
            </a:pPr>
            <a:r>
              <a:t>I believe in one God, the Father almighty, maker of heaven and earth, of all things visible and invisible. I believe in one Lord Jesus Christ, the Only Begotten Son of God, born of the Father before all ages…</a:t>
            </a:r>
          </a:p>
          <a:p>
            <a:pPr>
              <a:spcAft>
                <a:spcPts val="500"/>
              </a:spcAft>
              <a:defRPr sz="2000" b="1" i="0">
                <a:solidFill>
                  <a:srgbClr val="F5F5F5"/>
                </a:solidFill>
                <a:latin typeface="Calibri"/>
              </a:defRPr>
            </a:pPr>
            <a:r>
              <a:t>For us men and for our salvation he came down from heaven, (all bow) and by the Holy Spirit was incarnate of the Virgin Mary, and became man. For our sake he was crucified under Pontius Pilate, he suffered death and was buried, and rose again on the third day in accordance with the Scriptures.</a:t>
            </a:r>
          </a:p>
          <a:p>
            <a:pPr>
              <a:spcAft>
                <a:spcPts val="500"/>
              </a:spcAft>
              <a:defRPr sz="2000" b="1" i="0">
                <a:solidFill>
                  <a:srgbClr val="F5F5F5"/>
                </a:solidFill>
                <a:latin typeface="Calibri"/>
              </a:defRPr>
            </a:pPr>
            <a:r>
              <a:t>He ascended into heaven and is seated at the right hand of the Father… I believe in the Holy Spirit… I confess one Baptism for the forgiveness of sins and I look forward to the resurrection of the dead and the life of the world to come. Amen.</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Nicene Creed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500" b="0" i="1">
                <a:solidFill>
                  <a:srgbClr val="F2F0E8"/>
                </a:solidFill>
                <a:latin typeface="Calibri"/>
              </a:defRPr>
            </a:pPr>
            <a:r>
              <a:t>Prayer of the Faithful — insert petitions for your community.</a:t>
            </a:r>
          </a:p>
          <a:p>
            <a:pPr>
              <a:spcAft>
                <a:spcPts val="500"/>
              </a:spcAft>
              <a:defRPr sz="2000" b="1" i="0">
                <a:solidFill>
                  <a:srgbClr val="F2F0E8"/>
                </a:solidFill>
                <a:latin typeface="Calibri"/>
              </a:defRPr>
            </a:pPr>
            <a:r>
              <a:t>Father, bless your children.</a:t>
            </a:r>
          </a:p>
          <a:p>
            <a:pPr>
              <a:spcAft>
                <a:spcPts val="500"/>
              </a:spcAft>
              <a:defRPr sz="2000" b="1" i="0">
                <a:solidFill>
                  <a:srgbClr val="F5F5F5"/>
                </a:solidFill>
                <a:latin typeface="Calibri"/>
              </a:defRPr>
            </a:pPr>
            <a:r>
              <a:t>Lord, hear our prayer.</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Prayer of the Faithful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Heavenly Father… We ask this through Christ our Lord.</a:t>
            </a:r>
          </a:p>
          <a:p>
            <a:pPr>
              <a:spcAft>
                <a:spcPts val="500"/>
              </a:spcAft>
              <a:defRPr sz="2000" b="1" i="0">
                <a:solidFill>
                  <a:srgbClr val="F5F5F5"/>
                </a:solidFill>
                <a:latin typeface="Calibri"/>
              </a:defRPr>
            </a:pPr>
            <a:r>
              <a:t>Amen.</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Prayer of the Faithful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TAKE AND RECEIVE, O LORD, MY LIBERTY…</a:t>
            </a:r>
          </a:p>
          <a:p>
            <a:pPr>
              <a:spcAft>
                <a:spcPts val="500"/>
              </a:spcAft>
              <a:defRPr sz="1500" b="0" i="1">
                <a:solidFill>
                  <a:srgbClr val="F2F0E8"/>
                </a:solidFill>
                <a:latin typeface="Calibri"/>
              </a:defRPr>
            </a:pPr>
            <a:r>
              <a:t>Offertory — replace with your hymn (e.g. Take and Receive).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1508760"/>
            <a:ext cx="16916400" cy="4114800"/>
          </a:xfrm>
          <a:prstGeom prst="rect">
            <a:avLst/>
          </a:prstGeom>
          <a:noFill/>
        </p:spPr>
        <p:txBody>
          <a:bodyPr wrap="square" lIns="109728" rIns="109728" tIns="73152" bIns="73152">
            <a:noAutofit/>
          </a:bodyPr>
          <a:lstStyle/>
          <a:p>
            <a:pPr algn="ctr">
              <a:defRPr sz="4400" b="1" i="0">
                <a:solidFill>
                  <a:srgbClr val="F2F0E8"/>
                </a:solidFill>
                <a:latin typeface="Calibri"/>
              </a:defRPr>
            </a:pPr>
            <a:r>
              <a:t>LITURGY OF</a:t>
            </a:r>
            <a:br/>
            <a:r>
              <a:t>THE EUCHARIST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Pray, brethren, that my sacrifice and yours may be acceptable to God, the almighty Father.</a:t>
            </a:r>
          </a:p>
          <a:p>
            <a:pPr>
              <a:spcAft>
                <a:spcPts val="500"/>
              </a:spcAft>
              <a:defRPr sz="2000" b="1" i="0">
                <a:solidFill>
                  <a:srgbClr val="F5F5F5"/>
                </a:solidFill>
                <a:latin typeface="Calibri"/>
              </a:defRPr>
            </a:pPr>
            <a:r>
              <a:t>May the Lord accept the sacrifice at your hands, for the praise and glory of his name, for our good and the good of all his holy Church.</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1508760"/>
            <a:ext cx="16916400" cy="4114800"/>
          </a:xfrm>
          <a:prstGeom prst="rect">
            <a:avLst/>
          </a:prstGeom>
          <a:noFill/>
        </p:spPr>
        <p:txBody>
          <a:bodyPr wrap="square" lIns="109728" rIns="109728" tIns="73152" bIns="73152">
            <a:noAutofit/>
          </a:bodyPr>
          <a:lstStyle/>
          <a:p>
            <a:pPr algn="ctr">
              <a:defRPr sz="4400" b="1" i="0">
                <a:solidFill>
                  <a:srgbClr val="F2F0E8"/>
                </a:solidFill>
                <a:latin typeface="Calibri"/>
              </a:defRPr>
            </a:pPr>
            <a:r>
              <a:t>LITURGY OF</a:t>
            </a:r>
            <a:br/>
            <a:r>
              <a:t>THE EUCHARIST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The Lord be with you.</a:t>
            </a:r>
          </a:p>
          <a:p>
            <a:pPr>
              <a:spcAft>
                <a:spcPts val="500"/>
              </a:spcAft>
              <a:defRPr sz="2000" b="1" i="0">
                <a:solidFill>
                  <a:srgbClr val="F5F5F5"/>
                </a:solidFill>
                <a:latin typeface="Calibri"/>
              </a:defRPr>
            </a:pPr>
            <a:r>
              <a:t>And with your spirit.</a:t>
            </a:r>
          </a:p>
          <a:p>
            <a:pPr>
              <a:spcAft>
                <a:spcPts val="500"/>
              </a:spcAft>
              <a:defRPr sz="2000" b="1" i="0">
                <a:solidFill>
                  <a:srgbClr val="F2F0E8"/>
                </a:solidFill>
                <a:latin typeface="Calibri"/>
              </a:defRPr>
            </a:pPr>
            <a:r>
              <a:t>Lift up your hearts.</a:t>
            </a:r>
          </a:p>
          <a:p>
            <a:pPr>
              <a:spcAft>
                <a:spcPts val="500"/>
              </a:spcAft>
              <a:defRPr sz="2000" b="1" i="0">
                <a:solidFill>
                  <a:srgbClr val="F5F5F5"/>
                </a:solidFill>
                <a:latin typeface="Calibri"/>
              </a:defRPr>
            </a:pPr>
            <a:r>
              <a:t>We lift them up to the Lord.</a:t>
            </a:r>
          </a:p>
          <a:p>
            <a:pPr>
              <a:spcAft>
                <a:spcPts val="500"/>
              </a:spcAft>
              <a:defRPr sz="2000" b="1" i="0">
                <a:solidFill>
                  <a:srgbClr val="F2F0E8"/>
                </a:solidFill>
                <a:latin typeface="Calibri"/>
              </a:defRPr>
            </a:pPr>
            <a:r>
              <a:t>Let us give thanks to the Lord our God.</a:t>
            </a:r>
          </a:p>
          <a:p>
            <a:pPr>
              <a:spcAft>
                <a:spcPts val="500"/>
              </a:spcAft>
              <a:defRPr sz="2000" b="1" i="0">
                <a:solidFill>
                  <a:srgbClr val="F5F5F5"/>
                </a:solidFill>
                <a:latin typeface="Calibri"/>
              </a:defRPr>
            </a:pPr>
            <a:r>
              <a:t>It is right and just.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…we sing the hymn of your praise as without end we acclaim…</a:t>
            </a:r>
          </a:p>
          <a:p>
            <a:pPr>
              <a:spcAft>
                <a:spcPts val="500"/>
              </a:spcAft>
              <a:defRPr sz="1500" b="0" i="1">
                <a:solidFill>
                  <a:srgbClr val="F2F0E8"/>
                </a:solidFill>
                <a:latin typeface="Calibri"/>
              </a:defRPr>
            </a:pPr>
            <a:r>
              <a:t>— Priest continues the Preface from the Missal.</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Holy, Holy, Holy Lord God of hosts. Heaven and earth are full of your glory. Hosanna in the highest. Blessed is he who comes in the name of the Lord. Hosanna in the highest.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Sanctus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1508760"/>
            <a:ext cx="16916400" cy="4114800"/>
          </a:xfrm>
          <a:prstGeom prst="rect">
            <a:avLst/>
          </a:prstGeom>
          <a:noFill/>
        </p:spPr>
        <p:txBody>
          <a:bodyPr wrap="square" lIns="109728" rIns="109728" tIns="73152" bIns="73152">
            <a:noAutofit/>
          </a:bodyPr>
          <a:lstStyle/>
          <a:p>
            <a:pPr algn="ctr">
              <a:defRPr sz="4400" b="1" i="0">
                <a:solidFill>
                  <a:srgbClr val="F2F0E8"/>
                </a:solidFill>
                <a:latin typeface="Calibri"/>
              </a:defRPr>
            </a:pPr>
            <a:r>
              <a:t>LITURGY OF</a:t>
            </a:r>
            <a:br/>
            <a:r>
              <a:t>THE EUCHARIST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When we eat this bread and drink this cup, we proclaim your death, O Lord, until you come again.</a:t>
            </a:r>
          </a:p>
          <a:p>
            <a:pPr>
              <a:spcAft>
                <a:spcPts val="500"/>
              </a:spcAft>
              <a:defRPr sz="1500" b="0" i="1">
                <a:solidFill>
                  <a:srgbClr val="F2F0E8"/>
                </a:solidFill>
                <a:latin typeface="Calibri"/>
              </a:defRPr>
            </a:pPr>
            <a:r>
              <a:t>The Mystery of Faith — use the form in the Eucharistic Prayer of the day.</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The Eucharistic Prayer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1508760"/>
            <a:ext cx="16916400" cy="4114800"/>
          </a:xfrm>
          <a:prstGeom prst="rect">
            <a:avLst/>
          </a:prstGeom>
          <a:noFill/>
        </p:spPr>
        <p:txBody>
          <a:bodyPr wrap="square" lIns="109728" rIns="109728" tIns="73152" bIns="73152">
            <a:noAutofit/>
          </a:bodyPr>
          <a:lstStyle/>
          <a:p>
            <a:pPr algn="ctr">
              <a:defRPr sz="4400" b="1" i="0">
                <a:solidFill>
                  <a:srgbClr val="F2F0E8"/>
                </a:solidFill>
                <a:latin typeface="Calibri"/>
              </a:defRPr>
            </a:pPr>
            <a:r>
              <a:t>LITURGY OF</a:t>
            </a:r>
            <a:br/>
            <a:r>
              <a:t>THE EUCHARIST</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5F5F5"/>
                </a:solidFill>
                <a:latin typeface="Calibri"/>
              </a:defRPr>
            </a:pPr>
            <a:r>
              <a:t>Amen.</a:t>
            </a:r>
          </a:p>
          <a:p>
            <a:pPr>
              <a:spcAft>
                <a:spcPts val="500"/>
              </a:spcAft>
              <a:defRPr sz="1500" b="0" i="1">
                <a:solidFill>
                  <a:srgbClr val="F2F0E8"/>
                </a:solidFill>
                <a:latin typeface="Calibri"/>
              </a:defRPr>
            </a:pPr>
            <a:r>
              <a:t>Great Amen — repeat as customary.</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Great Amen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주님의 기도</a:t>
            </a:r>
          </a:p>
          <a:p>
            <a:pPr>
              <a:spcAft>
                <a:spcPts val="500"/>
              </a:spcAft>
              <a:defRPr sz="1900" b="0" i="0">
                <a:solidFill>
                  <a:srgbClr val="F5F5F5"/>
                </a:solidFill>
                <a:latin typeface="Calibri"/>
              </a:defRPr>
            </a:pPr>
            <a:r>
              <a:t>하늘에 계신 우리 아버지,</a:t>
            </a:r>
          </a:p>
          <a:p>
            <a:pPr>
              <a:spcAft>
                <a:spcPts val="500"/>
              </a:spcAft>
              <a:defRPr sz="1900" b="0" i="0">
                <a:solidFill>
                  <a:srgbClr val="F5F5F5"/>
                </a:solidFill>
                <a:latin typeface="Calibri"/>
              </a:defRPr>
            </a:pPr>
            <a:r>
              <a:t>아버지 이름 빛나시며</a:t>
            </a:r>
          </a:p>
          <a:p>
            <a:pPr>
              <a:spcAft>
                <a:spcPts val="500"/>
              </a:spcAft>
              <a:defRPr sz="1900" b="0" i="0">
                <a:solidFill>
                  <a:srgbClr val="F5F5F5"/>
                </a:solidFill>
                <a:latin typeface="Calibri"/>
              </a:defRPr>
            </a:pPr>
            <a:r>
              <a:t>아버지 뜻이 하늘에서와 같이 땅에서도 이루어지소서</a:t>
            </a:r>
          </a:p>
          <a:p>
            <a:pPr>
              <a:spcAft>
                <a:spcPts val="500"/>
              </a:spcAft>
              <a:defRPr sz="1900" b="0" i="0">
                <a:solidFill>
                  <a:srgbClr val="F5F5F5"/>
                </a:solidFill>
                <a:latin typeface="Calibri"/>
              </a:defRPr>
            </a:pPr>
            <a:r>
              <a:t>저희에게 일용할 양식 주시고,</a:t>
            </a:r>
          </a:p>
          <a:p>
            <a:pPr>
              <a:spcAft>
                <a:spcPts val="500"/>
              </a:spcAft>
              <a:defRPr sz="1900" b="0" i="0">
                <a:solidFill>
                  <a:srgbClr val="F5F5F5"/>
                </a:solidFill>
                <a:latin typeface="Calibri"/>
              </a:defRPr>
            </a:pPr>
            <a:r>
              <a:t>저희의 죄를 용서하시고</a:t>
            </a:r>
          </a:p>
          <a:p>
            <a:pPr>
              <a:spcAft>
                <a:spcPts val="500"/>
              </a:spcAft>
              <a:defRPr sz="1900" b="0" i="0">
                <a:solidFill>
                  <a:srgbClr val="F5F5F5"/>
                </a:solidFill>
                <a:latin typeface="Calibri"/>
              </a:defRPr>
            </a:pPr>
            <a:r>
              <a:t>유혹에 빠지지 않게 하시고,</a:t>
            </a:r>
          </a:p>
          <a:p>
            <a:pPr>
              <a:spcAft>
                <a:spcPts val="500"/>
              </a:spcAft>
              <a:defRPr sz="1900" b="0" i="0">
                <a:solidFill>
                  <a:srgbClr val="F5F5F5"/>
                </a:solidFill>
                <a:latin typeface="Calibri"/>
              </a:defRPr>
            </a:pPr>
            <a:r>
              <a:t>악에서도 저희 구하소서</a:t>
            </a:r>
          </a:p>
          <a:p>
            <a:pPr>
              <a:spcAft>
                <a:spcPts val="500"/>
              </a:spcAft>
              <a:defRPr sz="1500" b="0" i="1">
                <a:solidFill>
                  <a:srgbClr val="F2F0E8"/>
                </a:solidFill>
                <a:latin typeface="Calibri"/>
              </a:defRPr>
            </a:pPr>
            <a:r>
              <a:t>Our Father — Korean (주님의 기도).</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Our Father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영광이며 사랑이신 우리 주님께</a:t>
            </a:r>
          </a:p>
          <a:p>
            <a:pPr>
              <a:spcAft>
                <a:spcPts val="500"/>
              </a:spcAft>
              <a:defRPr sz="1900" b="0" i="0">
                <a:solidFill>
                  <a:srgbClr val="F5F5F5"/>
                </a:solidFill>
                <a:latin typeface="Calibri"/>
              </a:defRPr>
            </a:pPr>
            <a:r>
              <a:t>처음과 같이 이제와 항상 영원히</a:t>
            </a:r>
          </a:p>
          <a:p>
            <a:pPr>
              <a:spcAft>
                <a:spcPts val="500"/>
              </a:spcAft>
              <a:defRPr sz="1500" b="0" i="1">
                <a:solidFill>
                  <a:srgbClr val="F2F0E8"/>
                </a:solidFill>
                <a:latin typeface="Calibri"/>
              </a:defRPr>
            </a:pPr>
            <a:r>
              <a:t>Doxology in Korean as in GFCC practice.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Our Father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Deliver us, Lord, we pray, from every evil…</a:t>
            </a:r>
          </a:p>
          <a:p>
            <a:pPr>
              <a:spcAft>
                <a:spcPts val="500"/>
              </a:spcAft>
              <a:defRPr sz="2000" b="1" i="0">
                <a:solidFill>
                  <a:srgbClr val="F5F5F5"/>
                </a:solidFill>
                <a:latin typeface="Calibri"/>
              </a:defRPr>
            </a:pPr>
            <a:r>
              <a:t>For the kingdom, the power, and the glory are yours, now and for ever. Amen.</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The Communion Rite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The peace of the Lord be with you always.</a:t>
            </a:r>
          </a:p>
          <a:p>
            <a:pPr>
              <a:spcAft>
                <a:spcPts val="500"/>
              </a:spcAft>
              <a:defRPr sz="2000" b="1" i="0">
                <a:solidFill>
                  <a:srgbClr val="F5F5F5"/>
                </a:solidFill>
                <a:latin typeface="Calibri"/>
              </a:defRPr>
            </a:pPr>
            <a:r>
              <a:t>And with your spirit.</a:t>
            </a:r>
          </a:p>
          <a:p>
            <a:pPr>
              <a:spcAft>
                <a:spcPts val="500"/>
              </a:spcAft>
              <a:defRPr sz="1500" b="0" i="1">
                <a:solidFill>
                  <a:srgbClr val="F2F0E8"/>
                </a:solidFill>
                <a:latin typeface="Calibri"/>
              </a:defRPr>
            </a:pPr>
            <a:r>
              <a:t>Let us offer each other the sign of peace.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Sign of Peace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Lamb of God, you take away the sins of the world: have mercy on us…</a:t>
            </a:r>
          </a:p>
          <a:p>
            <a:pPr>
              <a:spcAft>
                <a:spcPts val="500"/>
              </a:spcAft>
              <a:defRPr sz="1900" b="0" i="0">
                <a:solidFill>
                  <a:srgbClr val="F5F5F5"/>
                </a:solidFill>
                <a:latin typeface="Calibri"/>
              </a:defRPr>
            </a:pPr>
            <a:r>
              <a:t>Lamb of God… grant us peace.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Lamb of God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Behold the Lamb of God…</a:t>
            </a:r>
          </a:p>
          <a:p>
            <a:pPr>
              <a:spcAft>
                <a:spcPts val="500"/>
              </a:spcAft>
              <a:defRPr sz="2000" b="1" i="0">
                <a:solidFill>
                  <a:srgbClr val="F5F5F5"/>
                </a:solidFill>
                <a:latin typeface="Calibri"/>
              </a:defRPr>
            </a:pPr>
            <a:r>
              <a:t>Lord, I am not worthy that you should enter under my roof, but only say the word and my soul shall be healed.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The Communion Rite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TASTE AND SEE, TASTE AND SEE THE GOODNESS OF THE LORD…</a:t>
            </a:r>
          </a:p>
          <a:p>
            <a:pPr>
              <a:spcAft>
                <a:spcPts val="500"/>
              </a:spcAft>
              <a:defRPr sz="1500" b="0" i="1">
                <a:solidFill>
                  <a:srgbClr val="F2F0E8"/>
                </a:solidFill>
                <a:latin typeface="Calibri"/>
              </a:defRPr>
            </a:pPr>
            <a:r>
              <a:t>Communion hymn — replace with your selection (multiple slides as needed).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Communion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Let us pray.</a:t>
            </a:r>
          </a:p>
          <a:p>
            <a:pPr>
              <a:spcAft>
                <a:spcPts val="500"/>
              </a:spcAft>
              <a:defRPr sz="2000" b="1" i="0">
                <a:solidFill>
                  <a:srgbClr val="F5F5F5"/>
                </a:solidFill>
                <a:latin typeface="Calibri"/>
              </a:defRPr>
            </a:pPr>
            <a:r>
              <a:t>Amen.</a:t>
            </a:r>
          </a:p>
          <a:p>
            <a:pPr>
              <a:spcAft>
                <a:spcPts val="500"/>
              </a:spcAft>
              <a:defRPr sz="1500" b="0" i="1">
                <a:solidFill>
                  <a:srgbClr val="F2F0E8"/>
                </a:solidFill>
                <a:latin typeface="Calibri"/>
              </a:defRPr>
            </a:pPr>
            <a:r>
              <a:t>— Post-Communion Prayer of the day.</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The Communion Rite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CHURCH ANNOUNCEMENTS</a:t>
            </a:r>
          </a:p>
          <a:p>
            <a:pPr>
              <a:spcAft>
                <a:spcPts val="500"/>
              </a:spcAft>
              <a:defRPr sz="1500" b="0" i="1">
                <a:solidFill>
                  <a:srgbClr val="F2F0E8"/>
                </a:solidFill>
                <a:latin typeface="Calibri"/>
              </a:defRPr>
            </a:pPr>
            <a:r>
              <a:t>Insert your bulletin points on the following slides or edit this deck.</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Announcements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Welcome newcomers!</a:t>
            </a:r>
          </a:p>
          <a:p>
            <a:pPr>
              <a:spcAft>
                <a:spcPts val="500"/>
              </a:spcAft>
              <a:defRPr sz="1500" b="0" i="1">
                <a:solidFill>
                  <a:srgbClr val="F2F0E8"/>
                </a:solidFill>
                <a:latin typeface="Calibri"/>
              </a:defRPr>
            </a:pPr>
            <a:r>
              <a:t>Photo collage optional.</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Announcements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Sacrament of Confession</a:t>
            </a:r>
          </a:p>
          <a:p>
            <a:pPr>
              <a:spcAft>
                <a:spcPts val="500"/>
              </a:spcAft>
              <a:defRPr sz="1500" b="0" i="1">
                <a:solidFill>
                  <a:srgbClr val="F2F0E8"/>
                </a:solidFill>
                <a:latin typeface="Calibri"/>
              </a:defRPr>
            </a:pPr>
            <a:r>
              <a:t>“The Lord never tires of forgiving us; we are the ones who tire of seeking his mercy.” — Pope Francis</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Announcements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Mass Collection</a:t>
            </a:r>
          </a:p>
          <a:p>
            <a:pPr>
              <a:spcAft>
                <a:spcPts val="500"/>
              </a:spcAft>
              <a:defRPr sz="1500" b="0" i="1">
                <a:solidFill>
                  <a:srgbClr val="F2F0E8"/>
                </a:solidFill>
                <a:latin typeface="Calibri"/>
              </a:defRPr>
            </a:pPr>
            <a:r>
              <a:t>Amount · date · thank you — add 2 Cor 9:7 if desired.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Announcements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Food or Mass Sponsorship</a:t>
            </a:r>
          </a:p>
          <a:p>
            <a:pPr>
              <a:spcAft>
                <a:spcPts val="500"/>
              </a:spcAft>
              <a:defRPr sz="1500" b="0" i="1">
                <a:solidFill>
                  <a:srgbClr val="F2F0E8"/>
                </a:solidFill>
                <a:latin typeface="Calibri"/>
              </a:defRPr>
            </a:pPr>
            <a:r>
              <a:t>Contact your parish coordinator — thank you.</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Announcements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Updates and Announcements</a:t>
            </a:r>
          </a:p>
          <a:p>
            <a:pPr>
              <a:spcAft>
                <a:spcPts val="500"/>
              </a:spcAft>
              <a:defRPr sz="1500" b="0" i="1">
                <a:solidFill>
                  <a:srgbClr val="F2F0E8"/>
                </a:solidFill>
                <a:latin typeface="Calibri"/>
              </a:defRPr>
            </a:pPr>
            <a:r>
              <a:t>Like and follow: Gwangju Filipino Catholic Community (add QR in slide master later).</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Announcements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2000" b="1" i="0">
                <a:solidFill>
                  <a:srgbClr val="F2F0E8"/>
                </a:solidFill>
                <a:latin typeface="Calibri"/>
              </a:defRPr>
            </a:pPr>
            <a:r>
              <a:t>The Lord be with you.</a:t>
            </a:r>
          </a:p>
          <a:p>
            <a:pPr>
              <a:spcAft>
                <a:spcPts val="500"/>
              </a:spcAft>
              <a:defRPr sz="2000" b="1" i="0">
                <a:solidFill>
                  <a:srgbClr val="F5F5F5"/>
                </a:solidFill>
                <a:latin typeface="Calibri"/>
              </a:defRPr>
            </a:pPr>
            <a:r>
              <a:t>And with your spirit.</a:t>
            </a:r>
          </a:p>
          <a:p>
            <a:pPr>
              <a:spcAft>
                <a:spcPts val="500"/>
              </a:spcAft>
              <a:defRPr sz="2000" b="1" i="0">
                <a:solidFill>
                  <a:srgbClr val="F2F0E8"/>
                </a:solidFill>
                <a:latin typeface="Calibri"/>
              </a:defRPr>
            </a:pPr>
            <a:r>
              <a:t>May almighty God bless you, the Father, and the Son, and the Holy Spirit.</a:t>
            </a:r>
          </a:p>
          <a:p>
            <a:pPr>
              <a:spcAft>
                <a:spcPts val="500"/>
              </a:spcAft>
              <a:defRPr sz="2000" b="1" i="0">
                <a:solidFill>
                  <a:srgbClr val="F5F5F5"/>
                </a:solidFill>
                <a:latin typeface="Calibri"/>
              </a:defRPr>
            </a:pPr>
            <a:r>
              <a:t>Amen.</a:t>
            </a:r>
          </a:p>
          <a:p>
            <a:pPr>
              <a:spcAft>
                <a:spcPts val="500"/>
              </a:spcAft>
              <a:defRPr sz="2000" b="1" i="0">
                <a:solidFill>
                  <a:srgbClr val="F2F0E8"/>
                </a:solidFill>
                <a:latin typeface="Calibri"/>
              </a:defRPr>
            </a:pPr>
            <a:r>
              <a:t>Go in peace, glorifying the Lord by your life.</a:t>
            </a:r>
          </a:p>
          <a:p>
            <a:pPr>
              <a:spcAft>
                <a:spcPts val="500"/>
              </a:spcAft>
              <a:defRPr sz="2000" b="1" i="0">
                <a:solidFill>
                  <a:srgbClr val="F5F5F5"/>
                </a:solidFill>
                <a:latin typeface="Calibri"/>
              </a:defRPr>
            </a:pPr>
            <a:r>
              <a:t>Thanks be to God.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Final Blessing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457200"/>
            <a:ext cx="16916400" cy="8823960"/>
          </a:xfrm>
          <a:prstGeom prst="rect">
            <a:avLst/>
          </a:prstGeom>
          <a:noFill/>
        </p:spPr>
        <p:txBody>
          <a:bodyPr wrap="square" lIns="109728" rIns="109728" tIns="73152" bIns="73152">
            <a:noAutofit/>
          </a:bodyPr>
          <a:lstStyle/>
          <a:p>
            <a:pPr>
              <a:spcAft>
                <a:spcPts val="500"/>
              </a:spcAft>
              <a:defRPr sz="1900" b="1" i="0">
                <a:solidFill>
                  <a:srgbClr val="F5F5F5"/>
                </a:solidFill>
                <a:latin typeface="Calibri"/>
              </a:defRPr>
            </a:pPr>
            <a:r>
              <a:t>COME! LIVE IN THE LIGHT! SHINE WITH THE JOY AND THE LOVE OF THE LORD!</a:t>
            </a:r>
          </a:p>
          <a:p>
            <a:pPr>
              <a:spcAft>
                <a:spcPts val="500"/>
              </a:spcAft>
              <a:defRPr sz="1900" b="0" i="0">
                <a:solidFill>
                  <a:srgbClr val="F5F5F5"/>
                </a:solidFill>
                <a:latin typeface="Calibri"/>
              </a:defRPr>
            </a:pPr>
            <a:r>
              <a:t>WE ARE CALLED… TO BE LIGHT FOR THE KINGDOM…</a:t>
            </a:r>
          </a:p>
          <a:p>
            <a:pPr>
              <a:spcAft>
                <a:spcPts val="500"/>
              </a:spcAft>
              <a:defRPr sz="1500" b="0" i="1">
                <a:solidFill>
                  <a:srgbClr val="F2F0E8"/>
                </a:solidFill>
                <a:latin typeface="Calibri"/>
              </a:defRPr>
            </a:pPr>
            <a:r>
              <a:t>Recessional — We Are Called (David Haas). Replace if needed.</a:t>
            </a:r>
          </a:p>
          <a:p>
            <a:pPr>
              <a:spcAft>
                <a:spcPts val="500"/>
              </a:spcAft>
              <a:defRPr sz="1900" b="1" i="0">
                <a:solidFill>
                  <a:srgbClr val="F5F5F5"/>
                </a:solidFill>
                <a:latin typeface="Calibri"/>
              </a:defRPr>
            </a:pPr>
            <a:r>
              <a:t>WE ARE CALLED TO ACT WITH JUSTICE. WE ARE CALLED TO LOVE TENDERLY.</a:t>
            </a:r>
          </a:p>
          <a:p>
            <a:pPr>
              <a:spcAft>
                <a:spcPts val="500"/>
              </a:spcAft>
              <a:defRPr sz="1900" b="0" i="0">
                <a:solidFill>
                  <a:srgbClr val="F5F5F5"/>
                </a:solidFill>
                <a:latin typeface="Calibri"/>
              </a:defRPr>
            </a:pPr>
            <a:r>
              <a:t>WE ARE CALLED TO SERVE ONE ANOTHER, TO WALK HUMBLY WITH GOD.</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Recessional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21216"/>
        </a:solidFill>
        <a:effectLst/>
      </p:bgPr>
    </p:bg>
    <p:spTree>
      <p:nvGrpSpPr>
        <p:cNvPr id="1" name=""/>
        <p:cNvGrpSpPr/>
        <p:nvPr/>
      </p:nvGrpSpPr>
      <p:grpSpPr/>
      <p:sp>
        <p:nvSpPr>
          <p:cNvPr id="2" name="TextBox 1"/>
          <p:cNvSpPr txBox="1"/>
          <p:nvPr/>
        </p:nvSpPr>
        <p:spPr>
          <a:xfrm>
            <a:off x="685800" y="914400"/>
            <a:ext cx="16916400" cy="5943600"/>
          </a:xfrm>
          <a:prstGeom prst="rect">
            <a:avLst/>
          </a:prstGeom>
          <a:noFill/>
        </p:spPr>
        <p:txBody>
          <a:bodyPr wrap="square" lIns="109728" rIns="109728" tIns="73152" bIns="73152">
            <a:noAutofit/>
          </a:bodyPr>
          <a:lstStyle/>
          <a:p>
            <a:pPr>
              <a:spcAft>
                <a:spcPts val="300"/>
              </a:spcAft>
              <a:defRPr sz="2100" b="1" i="0">
                <a:solidFill>
                  <a:srgbClr val="F2F0E8"/>
                </a:solidFill>
                <a:latin typeface="Calibri"/>
              </a:defRPr>
            </a:pPr>
            <a:r>
              <a:t>MASS CELEBRANT:</a:t>
            </a:r>
          </a:p>
          <a:p>
            <a:pPr>
              <a:spcAft>
                <a:spcPts val="300"/>
              </a:spcAft>
              <a:defRPr sz="2100" b="0" i="0">
                <a:solidFill>
                  <a:srgbClr val="F5F5F5"/>
                </a:solidFill>
                <a:latin typeface="Calibri"/>
              </a:defRPr>
            </a:pPr>
            <a:r>
              <a:t>Hye</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GWANGJU</a:t>
            </a:r>
            <a:br/>
            <a:r>
              <a:t>FILIPINO</a:t>
            </a:r>
            <a:br/>
            <a:r>
              <a:t>CATHOLIC</a:t>
            </a:r>
            <a:br/>
            <a:r>
              <a:t>COMMUNITY</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Gospel (John 10:1-10)</a:t>
            </a:r>
          </a:p>
          <a:p>
            <a:pPr>
              <a:spcAft>
                <a:spcPts val="300"/>
              </a:spcAft>
              <a:defRPr sz="2100" b="0" i="0">
                <a:solidFill>
                  <a:srgbClr val="F5F5F5"/>
                </a:solidFill>
                <a:latin typeface="Calibri"/>
              </a:defRPr>
            </a:pPr>
            <a:r>
              <a:t>“Amen, amen, I say to you, whoever does not enter a sheepfold through the gate but climbs over elsewhere is a thief and a robber.”</a:t>
            </a:r>
          </a:p>
          <a:p>
            <a:pPr>
              <a:spcAft>
                <a:spcPts val="300"/>
              </a:spcAft>
              <a:defRPr sz="2100" b="0" i="0">
                <a:solidFill>
                  <a:srgbClr val="F5F5F5"/>
                </a:solidFill>
                <a:latin typeface="Calibri"/>
              </a:defRPr>
            </a:pPr>
          </a:p>
          <a:p>
            <a:pPr>
              <a:spcAft>
                <a:spcPts val="300"/>
              </a:spcAft>
              <a:defRPr sz="2100" b="0" i="0">
                <a:solidFill>
                  <a:srgbClr val="F5F5F5"/>
                </a:solidFill>
                <a:latin typeface="Calibri"/>
              </a:defRPr>
            </a:pPr>
            <a:r>
              <a:t>YEAR A</a:t>
            </a:r>
          </a:p>
          <a:p>
            <a:pPr>
              <a:spcAft>
                <a:spcPts val="300"/>
              </a:spcAft>
              <a:defRPr sz="2100" b="0" i="0">
                <a:solidFill>
                  <a:srgbClr val="F5F5F5"/>
                </a:solidFill>
                <a:latin typeface="Calibri"/>
              </a:defRPr>
            </a:pPr>
            <a:r>
              <a:t>2026-04-26 · Eastertide</a:t>
            </a:r>
          </a:p>
        </p:txBody>
      </p:sp>
      <p:sp>
        <p:nvSpPr>
          <p:cNvPr id="3" name="TextBox 2"/>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9B9BA5"/>
                </a:solidFill>
                <a:latin typeface="Calibri"/>
              </a:defRPr>
            </a:pPr>
            <a:r>
              <a:t>GWANGJU FILIPINO CATHOLIC COMMUNITY</a:t>
            </a:r>
          </a:p>
          <a:p>
            <a:pPr>
              <a:spcBef>
                <a:spcPts val="200"/>
              </a:spcBef>
              <a:defRPr sz="1200" b="0" i="0">
                <a:solidFill>
                  <a:srgbClr val="F2F0E8"/>
                </a:solidFill>
                <a:latin typeface="Calibri"/>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